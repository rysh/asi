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jBmt4cKzB358m5mbqPtjeKfsGv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66928" y="1572768"/>
            <a:ext cx="11057839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Redefining Artificial Superintelligence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Mystified Genius to Observable Conditions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566928" y="3703320"/>
            <a:ext cx="1105783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Franny Philos Sophia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Elanare Institute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66928" y="4800600"/>
            <a:ext cx="1105783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ORCID 0009-0004-7089-5265  ·  franny.philos.sophia@elanare.jp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SiC26  ·  Day 1, Session 1: Defining and Evaluating Superintelligence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9 September 2026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C9DCE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Preprints on Zenodo. All footnoted DOIs refer to preprints unless otherwise noted.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566928" y="164592"/>
            <a:ext cx="110578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Where This Talk Goes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66928" y="1261872"/>
            <a:ext cx="53368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 with the question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66928" y="1664208"/>
            <a:ext cx="5336895" cy="488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 The Genius Problem and IQ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The baseline we measure “super” against was never measured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 Critique of Existing Definitions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Bostrom, Legg &amp; Hutter, Chollet, Goertzel — why each fails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 Four Conditions and Discussion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Two are already met. The other two are the actual frontier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 Defining ASI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Continuous novel discovery, not speed and not accuracy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6287871" y="1261872"/>
            <a:ext cx="533689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frontier requires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287871" y="1664208"/>
            <a:ext cx="5336895" cy="488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 What Is AGI?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General means reframing — and reframing costs controllability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  The Path to Scientific Creativity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Why a system cannot verify its own novelty from the inside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  Synthesis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One possible design, and what it needs from the physical world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About the Author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47472" y="1261872"/>
            <a:ext cx="565693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Published (3)   ·   Under review (10), 1-3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347472" y="1664208"/>
            <a:ext cx="5656935" cy="488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7432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AI &amp; Ethics (Springer) — The logic trap: How LLM "Helpfulness" becomes a mechanism of psychological harm (doi.org/10.1007/s43681-026-01148-6)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CACM — The Centaur Is Not Dying. It Is Stratifying. Why the Chess Analogy Fails for the Software Industry — and Every Industry That Follows (in press; zenodo.18733027)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JBMT — Brachiation-based movement as a theoretical framework for addressing technology-related postural dysfunction: An evolutionary and neuromuscular perspective (doi.org/10.1016/j.jbmt.2026.03.008; PubMed 42264802)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JAGI — The Control Impossibility: From Reframing Asymmetry to Constitutional Architecture (zenodo.19943538)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CACM — Beyond Executable Governance: Why Encoding Rules Cannot Replace Knowledge Cycles in AI-Assisted Development (zenodo.19429152)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TLO — The SECI Model in Practice: The Knowledge Creation Architecture Embedded in Scrum (zenodo.21293879)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6187287" y="1261872"/>
            <a:ext cx="5656935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 review (10), 4-10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6187287" y="1664208"/>
            <a:ext cx="5656935" cy="488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7432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New Ideas in Psychology — Brain Interoception: The Missing Organ on the Interoceptive Map (zenodo.19942221)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Erkenntnis — Emergence Without the Dichotomy (zenodo.21319707)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PEPE — From Fugitive Cash to Non-Fugitive Provisioning: The Mundellian Trilemma, External Debt Feedback, and the Design Space of Post-Employment Redistribution (zenodo.21759090)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SHPS — Dynamic Emergence: A Unified Theory Based on the Stuart-Landau Equation (zenodo.18074645)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SHPS — Lost Abduction and Epistemic Barriers: Toward a Completion Model of Science Communication (zenodo.20005937)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BioSystems — From Instability to Active Inference: A Unified Mathematical Framework for Biological Self-Organization across Scales (zenodo.18017028)</a:t>
            </a:r>
            <a:endParaRPr/>
          </a:p>
          <a:p>
            <a:pPr indent="0" lvl="0" marL="27432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Neural Computation — When the Manifold Collapses: A Geometric Theory of Constraint Conflict in Large Language Models (zenodo.20642039)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347472" y="5806440"/>
            <a:ext cx="11496751" cy="777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Independent researcher, Japanese, Software Engineer  ·  2E (Twice Exceptional) / ADHD / ASD  ·  ORCID 0009-0004-7089-5265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566928" y="164592"/>
            <a:ext cx="110578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1. The Genius Problem and IQ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The Mystification of Genius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566928" y="1261872"/>
            <a:ext cx="11057839" cy="486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IQ rankings have mystified genius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Von Neumann ~190, Ramanujan ~185+ are extrapolations from biographical anecdote, not measured values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Numbers that were never measured and cannot exist on the scale are assigned without evidence and take on a life of their own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Processing Speed Contamination. doi.org/10.5281/zenodo.19105953  ·  Who Are We Testing?. doi.org/10.5281/zenodo.17745229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Genius as Outlier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566928" y="1261872"/>
            <a:ext cx="11057839" cy="528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Genius has been elevated to authority, made taboo, and mystified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Or excluded from research to protect the certainty of established findings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Treated as an outlier that is not a research subject in the first place</a:t>
            </a:r>
            <a:endParaRPr/>
          </a:p>
          <a:p>
            <a:pPr indent="0" lvl="0" marL="27432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Von Neumann: could not analyze quantum phenomena without macroscopic analogies. Describable as constraint conditions when observed as-is</a:t>
            </a:r>
            <a:endParaRPr/>
          </a:p>
          <a:p>
            <a:pPr indent="0" lvl="0" marL="27432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Ramanujan: abductive hypothesis generation + brute-force computation. Not mystery but a describable process</a:t>
            </a:r>
            <a:endParaRPr/>
          </a:p>
          <a:p>
            <a:pPr indent="0" lvl="0" marL="27432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Leibniz: systematic formalization of existing infinitesimal methods</a:t>
            </a:r>
            <a:endParaRPr/>
          </a:p>
          <a:p>
            <a:pPr indent="0" lvl="0" marL="27432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— Aristotle: categorical organization of observational data across domains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 Goal That Does Not Exist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566928" y="1261872"/>
            <a:ext cx="11057839" cy="528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Claiming to “surpass” something that has not been analyzed is a trivialization of reality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“Surpassing the best human minds” has no baseline — it is undefinable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Human cognitive ability has no fixed upper bound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are chasing a goal that does not exist</a:t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/>
        </p:nvSpPr>
        <p:spPr>
          <a:xfrm>
            <a:off x="566928" y="164592"/>
            <a:ext cx="110578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2. Critique of Existing Definitions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Bostrom: Already Achieved Conditions and a Metaphor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566928" y="1261872"/>
            <a:ext cx="11057839" cy="486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Three categories: Speed / Collective / Quality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 and Collective are already achieved (though Bostrom's definition conflates processing throughput with cognitive capability range. Isolate speed as pure throughput and it is already achieved)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Quality is a metaphor (“the kind of superiority humans have over animals”), not a definition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“Greatly exceeds human performance in virtually all domains” has no boundary conditions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Redefining Artificial Superintelligence — https://openreview.net/forum?id=lLWeptkTPH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Legg &amp; Hutter: A Definition That Cannot Be Computed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566928" y="1261872"/>
            <a:ext cx="11057839" cy="528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Expected reward across all computable environments, weighted by algorithmic complexity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Incomputable by the authors' own admission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Ignores resources. A definition that cannot be computed is not a definition</a:t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Chollet: Calling Infant Learning Intelligence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566928" y="1261872"/>
            <a:ext cx="11057839" cy="528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Skill-acquisition efficiency = intelligence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ARC benchmark is restricted to Spelke's Core Knowledge (the cognitive endowments of human infants)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Equates infant-level pattern extraction with intelligence as such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definition was reverse-engineered to match the benchmark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Goertzel: AGI Does Not Scale Into ASI</a:t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566928" y="1261872"/>
            <a:ext cx="11057839" cy="486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 metaphysical discussion modeled on human intelligence (pre-LLM, 2007)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Treats AGI → self-improvement → ASI as a continuum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Treats capability as a scalar value — assumes ASI lies at the far end of quantitative improvement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AGI and ASI are qualitatively different: reframing (adaptation) vs. abduction (generation)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Acknowledges embodied learning and the symbol grounding problem, which deserves credit. But does not resolve it</a:t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Intention Without Causation. doi.org/10.5281/zenodo.19234682  ·  The Conservation Demarcation. doi.org/10.5281/zenodo.21000863</a:t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566928" y="164592"/>
            <a:ext cx="110578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3. Four Conditions and Discussion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Calibrating the Definition</a:t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566928" y="1261872"/>
            <a:ext cx="11057839" cy="486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The human reference frame is not abandoned (“super” is a relational predicate)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But “surpass the best of humanity” is undefinable and therefore unreachable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Move the boundary conditions from the human upper limit to the current capability limits of AI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Because Speed and Collective are already resolved, the remaining gaps become specifiable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decomposition was impossible in 2014. It is possible now, in 2026</a:t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Redefining Artificial Superintelligence — https://openreview.net/forum?id=lLWeptkTPH</a:t>
            </a:r>
            <a:endParaRPr/>
          </a:p>
        </p:txBody>
      </p:sp>
      <p:sp>
        <p:nvSpPr>
          <p:cNvPr id="181" name="Google Shape;181;p11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The Four Conditions</a:t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566928" y="1307592"/>
            <a:ext cx="9219895" cy="891540"/>
          </a:xfrm>
          <a:prstGeom prst="roundRect">
            <a:avLst>
              <a:gd fmla="val 8000" name="adj"/>
            </a:avLst>
          </a:prstGeom>
          <a:solidFill>
            <a:srgbClr val="2E6E6B"/>
          </a:solidFill>
          <a:ln cap="flat" cmpd="sng" w="15875">
            <a:solidFill>
              <a:srgbClr val="9BE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768096" y="1362456"/>
            <a:ext cx="8305495" cy="781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Processing speed exceeds human cognition by orders of magnitude</a:t>
            </a:r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9238183" y="1362456"/>
            <a:ext cx="457200" cy="781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9BE8B4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566928" y="2601468"/>
            <a:ext cx="9219895" cy="891540"/>
          </a:xfrm>
          <a:prstGeom prst="roundRect">
            <a:avLst>
              <a:gd fmla="val 8000" name="adj"/>
            </a:avLst>
          </a:prstGeom>
          <a:solidFill>
            <a:srgbClr val="2E6E6B"/>
          </a:solidFill>
          <a:ln cap="flat" cmpd="sng" w="15875">
            <a:solidFill>
              <a:srgbClr val="9BE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768096" y="2656332"/>
            <a:ext cx="8305495" cy="781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COLLECTIVE INTELLIGENCE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Cross-domain knowledge integration is already achieved</a:t>
            </a:r>
            <a:endParaRPr/>
          </a:p>
        </p:txBody>
      </p:sp>
      <p:sp>
        <p:nvSpPr>
          <p:cNvPr id="193" name="Google Shape;193;p12"/>
          <p:cNvSpPr txBox="1"/>
          <p:nvPr/>
        </p:nvSpPr>
        <p:spPr>
          <a:xfrm>
            <a:off x="9238183" y="2656332"/>
            <a:ext cx="457200" cy="781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9BE8B4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566928" y="3895344"/>
            <a:ext cx="9219895" cy="891540"/>
          </a:xfrm>
          <a:prstGeom prst="roundRect">
            <a:avLst>
              <a:gd fmla="val 8000" name="adj"/>
            </a:avLst>
          </a:prstGeom>
          <a:solidFill>
            <a:srgbClr val="2C4F6E"/>
          </a:solidFill>
          <a:ln cap="flat" cmpd="sng" w="15875">
            <a:solidFill>
              <a:srgbClr val="FFB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768096" y="3950208"/>
            <a:ext cx="8305495" cy="781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SCIENTIFIC CREATIVITY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Cannot generate or validate novel hypotheses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9238183" y="3950208"/>
            <a:ext cx="457200" cy="781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B4A8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566928" y="5189220"/>
            <a:ext cx="9219895" cy="891540"/>
          </a:xfrm>
          <a:prstGeom prst="roundRect">
            <a:avLst>
              <a:gd fmla="val 8000" name="adj"/>
            </a:avLst>
          </a:prstGeom>
          <a:solidFill>
            <a:srgbClr val="2C4F6E"/>
          </a:solidFill>
          <a:ln cap="flat" cmpd="sng" w="15875">
            <a:solidFill>
              <a:srgbClr val="FFB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768096" y="5244084"/>
            <a:ext cx="8305495" cy="781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GENERAL WISDOM UNDER COMPLEXITY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Judgment breaks down in complex situations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9238183" y="5244084"/>
            <a:ext cx="457200" cy="781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B4A8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566928" y="3637483"/>
            <a:ext cx="9219895" cy="21946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9933127" y="3518611"/>
            <a:ext cx="1545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9933127" y="1307592"/>
            <a:ext cx="1545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E8B4"/>
                </a:solidFill>
                <a:latin typeface="Arial"/>
                <a:ea typeface="Arial"/>
                <a:cs typeface="Arial"/>
                <a:sym typeface="Arial"/>
              </a:rPr>
              <a:t>ACHIEVED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9933127" y="5806440"/>
            <a:ext cx="1545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B4A8"/>
                </a:solidFill>
                <a:latin typeface="Arial"/>
                <a:ea typeface="Arial"/>
                <a:cs typeface="Arial"/>
                <a:sym typeface="Arial"/>
              </a:rPr>
              <a:t>FRONTIER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Redefining Artificial Superintelligence — https://openreview.net/forum?id=lLWeptkTPH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No Abduction, No Creativity</a:t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566928" y="1261872"/>
            <a:ext cx="11057839" cy="486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Solving existing unsolved problems = deduction. Valuable, but not creativity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Extracting patterns from large datasets = induction. Valuable, but not creativity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Creativity = posing a question nobody has asked, from an observation nobody has framed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Abduction (Peirce): the only inference that introduces a new idea</a:t>
            </a:r>
            <a:endParaRPr/>
          </a:p>
        </p:txBody>
      </p:sp>
      <p:sp>
        <p:nvSpPr>
          <p:cNvPr id="213" name="Google Shape;213;p13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Lost Abduction and Epistemic Barriers: Toward a Completion Model of Science Communication (SHPS, under review). doi.org/10.5281/zenodo.20005937</a:t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Scaling Is Dead</a:t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566928" y="1261872"/>
            <a:ext cx="11057839" cy="528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Scaling cannot achieve Condition 3 or Condition 4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Parameter scaling hit a ceiling → inference-time scaling → chain-of-thought → increased reasoning steps per request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Workflows, agents, tool calls — things users previously implemented via API — are now wrapped into the model's outer shell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All mixed together, details undisclosed, benchmarks reported as improved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Why this fails is explored later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Two Challenges, Solved Separately</a:t>
            </a:r>
            <a:endParaRPr/>
          </a:p>
        </p:txBody>
      </p:sp>
      <p:sp>
        <p:nvSpPr>
          <p:cNvPr id="228" name="Google Shape;228;p15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 txBox="1"/>
          <p:nvPr/>
        </p:nvSpPr>
        <p:spPr>
          <a:xfrm>
            <a:off x="566928" y="1261872"/>
            <a:ext cx="11057839" cy="395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connected by a straight line of scaling. Each requires its own design</a:t>
            </a:r>
            <a:endParaRPr/>
          </a:p>
        </p:txBody>
      </p:sp>
      <p:pic>
        <p:nvPicPr>
          <p:cNvPr descr="axes.png" id="230" name="Google Shape;2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2267" y="1767332"/>
            <a:ext cx="6367160" cy="358343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5"/>
          <p:cNvSpPr txBox="1"/>
          <p:nvPr/>
        </p:nvSpPr>
        <p:spPr>
          <a:xfrm>
            <a:off x="566928" y="5350764"/>
            <a:ext cx="11057839" cy="11963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After realization, each must be intentionally designed and improved as a separate capability or it will not grow. Computing reduces to four logical operations, but without CPU instruction set design and hardware-software coordination, today's performance would not exist. Individual challenges solved by individual design — that is what produced the performance we have.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/>
          <p:nvPr/>
        </p:nvSpPr>
        <p:spPr>
          <a:xfrm>
            <a:off x="566928" y="164592"/>
            <a:ext cx="110578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4. Defining ASI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Speed and Accuracy Are Only Prerequisites</a:t>
            </a:r>
            <a:endParaRPr/>
          </a:p>
        </p:txBody>
      </p:sp>
      <p:sp>
        <p:nvSpPr>
          <p:cNvPr id="239" name="Google Shape;239;p16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566928" y="1261872"/>
            <a:ext cx="11057839" cy="528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Computers are already fast enough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Not making mistakes is also not a condition for ASI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AlphaFold, GraphCast, medical imaging, autonomous perception, genome analysis — all orders of magnitude faster and more accurate than humans. But none produce new knowledge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 and accuracy are useful in practice but are not boundary conditions for ASI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ASI = Continuous Novel Discovery</a:t>
            </a:r>
            <a:endParaRPr/>
          </a:p>
        </p:txBody>
      </p:sp>
      <p:sp>
        <p:nvSpPr>
          <p:cNvPr id="247" name="Google Shape;247;p17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566928" y="1261872"/>
            <a:ext cx="11057839" cy="690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ASI = the ability to continuously make novel discoveries and inventions, update knowledge, and surpass humans</a:t>
            </a:r>
            <a:endParaRPr/>
          </a:p>
        </p:txBody>
      </p:sp>
      <p:pic>
        <p:nvPicPr>
          <p:cNvPr descr="triangle.png" id="249" name="Google Shape;2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0956" y="2061718"/>
            <a:ext cx="7969782" cy="448538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7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 txBox="1"/>
          <p:nvPr/>
        </p:nvSpPr>
        <p:spPr>
          <a:xfrm>
            <a:off x="566928" y="164592"/>
            <a:ext cx="110578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5. What Is AGI?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General Does Not Mean Universal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566928" y="1261872"/>
            <a:ext cx="11057839" cy="528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General intelligence = adapting to situations the system has not encountered before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Universal = capable of every possible task. That is not what “general” means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Performing learned tasks without error is not AGI. That is execution, not adaptation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What Does General Mean?</a:t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566928" y="1261872"/>
            <a:ext cx="11057839" cy="486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ability to change frames when the current frame does not work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This is the substance of Condition 3 (Wisdom under Complexity)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may sound simple — but implementing it fundamentally means losing controllability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The Control Impossibility: From Reframing Asymmetry to Constitutional Architecture (JAGI, under review). doi.org/10.5281/zenodo.19943538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The Distinction Between AGI and ASI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566928" y="1261872"/>
            <a:ext cx="11057839" cy="486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AGI is the adaptive application of existing knowledge (reframing)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ASI is the generation of knowledge that does not yet exist (abduction)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Rearranging and generating are different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Details in the paper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Redefining Artificial Superintelligence — https://openreview.net/forum?id=lLWeptkTPH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 txBox="1"/>
          <p:nvPr/>
        </p:nvSpPr>
        <p:spPr>
          <a:xfrm>
            <a:off x="566928" y="164592"/>
            <a:ext cx="110578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6. The Path to Scientific Creativity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LLMs Cannot Judge the Truth of Their Own Discoveries</a:t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66928" y="1261872"/>
            <a:ext cx="11057839" cy="528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 novel output does not exist in the training data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ideas are killed by the system's own verification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pic>
        <p:nvPicPr>
          <p:cNvPr id="287" name="Google Shape;287;p21" title="ChatGPT Image 2026年9月9日 16_47_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650" y="1856350"/>
            <a:ext cx="7424749" cy="371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The Error of “In the Beginning Was the Word”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566928" y="1261872"/>
            <a:ext cx="11057839" cy="486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“Truth is hidden in the world and can be discovered by the right method” = Hermeticism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Supposedly refuted by the scientific revolution, yet it resurfaces again and again (dormant pathogen)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Latest symptoms: “scaling will reach true intelligence”, “LLMs have a world model”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Language is a compression of the world, not the world itself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LLMs can only operate inside the compression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Intention Without Causation. doi.org/10.5281/zenodo.19234682  ·  The Conservation Demarcation. doi.org/10.5281/zenodo.21000863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What Advances Intelligence: The Generation of New Meaning</a:t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566928" y="1261872"/>
            <a:ext cx="11057839" cy="486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Gödel's incompleteness theorem: a system generates, through self-reference, truths it cannot prove internally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Standard philosophical interpretation: infinite regression (the same incompleteness repeating)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My interpretation: infinite progression (generating new meaning to resolve contradiction is not regression but progress through meaning-creation)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Mathematics has been doing exactly this throughout its history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Meaning has no conservation law — new dimensions of meaning can be generated without subtracting from any total. This is why infinite progression is structurally possible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Generative Contradiction: Reading Gödel with Nishida. doi.org/10.5281/zenodo.21612954  ·  The Conservation Demarcation. doi.org/10.5281/zenodo.21000863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Is Truth Found or Made?</a:t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566928" y="1261872"/>
            <a:ext cx="11057839" cy="486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Freud's Thanatos: theoretically dead. No neuroscientific basis. Judged “false” by every accepted method of verification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Mishima Yukio's seppuku (1970): fused Eros and Thanatos in a single irreversible bodily act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 theoretically dead concept changed its ontological status through action — an “undead concept”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Is truth out there in the world, waiting for humans to discover it? Or is truth constituted through action?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For those who believe the former, this is a deeply uncomfortable joke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the former is correct, scaling can reach ASI. If the latter, it is entirely impossible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566928" y="6144768"/>
            <a:ext cx="10417759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Mishima and Thanatos. doi.org/10.5281/zenodo.20489614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Going Outside Language</a:t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566928" y="1261872"/>
            <a:ext cx="11057839" cy="528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Meaning can be generated (cognitive side, no conservation law)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But facts on the world side, governed by conservation laws, cannot be generated at will. Observation is the only access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Meaning generation alone cannot distinguish itself from hallucination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Verification on the physical side is required: experiment, observation, measurement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Scientific creativity is achieved only when both the cognitive and physical layers are in place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 txBox="1"/>
          <p:nvPr/>
        </p:nvSpPr>
        <p:spPr>
          <a:xfrm>
            <a:off x="566928" y="164592"/>
            <a:ext cx="110578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7. Synthesis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One Possible Design</a:t>
            </a:r>
            <a:endParaRPr/>
          </a:p>
        </p:txBody>
      </p:sp>
      <p:sp>
        <p:nvSpPr>
          <p:cNvPr id="329" name="Google Shape;329;p26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 txBox="1"/>
          <p:nvPr/>
        </p:nvSpPr>
        <p:spPr>
          <a:xfrm>
            <a:off x="566928" y="1261872"/>
            <a:ext cx="11057839" cy="984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Decompose the scientific process: observation → pattern recognition → hypothesis generation (abduction) → experiment design → experiment execution → result evaluation → hypothesis revision → law formulation</a:t>
            </a:r>
            <a:endParaRPr/>
          </a:p>
        </p:txBody>
      </p:sp>
      <p:pic>
        <p:nvPicPr>
          <p:cNvPr descr="loop6.png" id="331" name="Google Shape;3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2388" y="2356104"/>
            <a:ext cx="6146918" cy="3459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 txBox="1"/>
          <p:nvPr/>
        </p:nvSpPr>
        <p:spPr>
          <a:xfrm>
            <a:off x="566928" y="5815584"/>
            <a:ext cx="110578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Each step is individually attackable as engineering. Experiment and observation are not exclusive to humans. Humans enter at judgment and direction.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Experiment as a Service</a:t>
            </a:r>
            <a:endParaRPr/>
          </a:p>
        </p:txBody>
      </p:sp>
      <p:sp>
        <p:nvSpPr>
          <p:cNvPr id="339" name="Google Shape;339;p27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 txBox="1"/>
          <p:nvPr/>
        </p:nvSpPr>
        <p:spPr>
          <a:xfrm>
            <a:off x="566928" y="1261872"/>
            <a:ext cx="11057839" cy="690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 laboratories, electron microscopes, and telescopes into the loop, and novel discoveries will follow</a:t>
            </a:r>
            <a:endParaRPr/>
          </a:p>
        </p:txBody>
      </p:sp>
      <p:pic>
        <p:nvPicPr>
          <p:cNvPr descr="ecosystem.png" id="341" name="Google Shape;3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0448" y="2061718"/>
            <a:ext cx="5630799" cy="375386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7"/>
          <p:cNvSpPr txBox="1"/>
          <p:nvPr/>
        </p:nvSpPr>
        <p:spPr>
          <a:xfrm>
            <a:off x="566928" y="5815584"/>
            <a:ext cx="110578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Real-world verification infrastructure: automated labs, experiment APIs, cloud-accessible robotic laboratories. Not expanding the inside of language — connecting to the outside of language.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Accelerating Novel Discovery</a:t>
            </a:r>
            <a:endParaRPr/>
          </a:p>
        </p:txBody>
      </p:sp>
      <p:sp>
        <p:nvSpPr>
          <p:cNvPr id="349" name="Google Shape;349;p28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566928" y="1261872"/>
            <a:ext cx="11057839" cy="690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Humanity has always advanced science by building tools that explore beyond what is currently known</a:t>
            </a:r>
            <a:endParaRPr/>
          </a:p>
        </p:txBody>
      </p:sp>
      <p:pic>
        <p:nvPicPr>
          <p:cNvPr descr="compare.png" id="351" name="Google Shape;3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4373" y="2061718"/>
            <a:ext cx="7082949" cy="398627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 txBox="1"/>
          <p:nvPr/>
        </p:nvSpPr>
        <p:spPr>
          <a:xfrm>
            <a:off x="566928" y="6047995"/>
            <a:ext cx="11057839" cy="49910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An AI that can do this is Superintelligence.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DBAC2"/>
            </a:gs>
            <a:gs pos="100000">
              <a:srgbClr val="355F84"/>
            </a:gs>
          </a:gsLst>
          <a:lin ang="2700000" scaled="0"/>
        </a:gra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 txBox="1"/>
          <p:nvPr/>
        </p:nvSpPr>
        <p:spPr>
          <a:xfrm>
            <a:off x="566928" y="384048"/>
            <a:ext cx="11057839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Thank You / Questions</a:t>
            </a:r>
            <a:endParaRPr/>
          </a:p>
        </p:txBody>
      </p:sp>
      <p:sp>
        <p:nvSpPr>
          <p:cNvPr id="359" name="Google Shape;359;p29"/>
          <p:cNvSpPr/>
          <p:nvPr/>
        </p:nvSpPr>
        <p:spPr>
          <a:xfrm>
            <a:off x="566928" y="896112"/>
            <a:ext cx="10058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566928" y="1261872"/>
            <a:ext cx="1105783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Speed and Collective Intelligence are already achieved. Scientific Creativity and General Wisdom under Complexity are not, and they are two independent axes — each requires its own design. ASI = the ability to continuously make novel discoveries and inventions, update knowledge, and surpass humans.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566928" y="2450592"/>
            <a:ext cx="5086605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Contact    franny.philos.sophia@elanare.jp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ORCID    0009-0004-7089-5265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OpenReview    https://openreview.net/forum?id=lLWeptkTPH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AF4F7"/>
                </a:solidFill>
                <a:latin typeface="Arial"/>
                <a:ea typeface="Arial"/>
                <a:cs typeface="Arial"/>
                <a:sym typeface="Arial"/>
              </a:rPr>
              <a:t>Referenced papers    DOIs on individual slides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566928" y="5998464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 welcome — and counterexamples are especially welcome.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11076127" y="6309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DCE6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